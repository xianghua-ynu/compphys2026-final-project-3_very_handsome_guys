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2" y="2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[请填写姓名]。今天我将向大家汇报我的计算物理期末项目——关于二维Ising模型相变与磁滞回线的蒙特卡洛模拟。这个项目旨在通过数值方法，深入探究统计物理学中一个经典的模型，理解其从微观自旋相互作用到宏观相变现象的物理过程。接下来，我将从项目背景、数值方法、模拟结果和结论展望四个方面展开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了解一下项目的物理背景。Ising模型是统计物理中一个非常经典的模型，它通过简化的方式来描述磁性材料的相变。模型的核心是格点上的自旋，它们之间存在相互作用，同时又受到温度的影响。这两种力量的竞争导致了系统在特定温度下发生相变。我们通过哈密顿量来描述系统的总能量，它包含了自旋间的交换作用和外磁场的作用。本项目的主要目标就是通过模拟，重现这一相变过程，确定临界温度，并研究磁滞回线等特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模拟Ising模型，我们采用了经典的Metropolis算法。这个算法属于马尔可夫链蒙特卡洛方法，它的核心思想不是穷举所有可能的状态，而是根据状态出现的概率进行随机抽样。算法的关键在于Metropolis准则，它决定了一个能量升高的状态转换是否被接受。整个流程包括初始化、迭代尝试翻转、测量物理量以及改变温度重复模拟。通过这个过程，我们可以有效地模拟系统在不同温度下的平衡态行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代码结构。整个程序用Python编写，分为五个主要模块。ising_model.py定义了模型的基本结构；monte_carlo.py实现了核心的Metropolis算法；hysteresis.py专门用于模拟磁滞回线；visualization.py负责将模拟结果绘制成图表；而main.py是整个程序的入口，负责参数设置和流程控制。这种模块化的设计使得代码逻辑清晰，易于理解和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激动人心的结果展示部分。首先是相变曲线。这张图包含了三个关键物理量：磁化强度、比热和磁化率。从左图可以看到，磁化强度在低温时很高，代表系统是有序的；随着温度升高，在临界点附近迅速降为零。中间和右边的图分别是比热和磁化率，它们在临界点附近都出现了明显的峰值，这是相变发生的典型标志。我们的模拟结果与理论临界温度Tc约等于2.27高度吻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二个功能演示是磁滞回线。这张图显示了在低温下，磁化强度随外磁场变化的关系。可以看到，当磁场来回变化时，磁化强度的变化路径形成了一个闭合的环路，这就是磁滞回线。图中标注了两个重要的特征量：剩余磁化，即磁场为零时的磁化强度；以及矫顽场，即使磁化强度为零所需的反向磁场。这一现象是铁磁材料的重要特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直观地理解相变，我们可视化了不同温度下的自旋构型。红色代表自旋向上，蓝色代表自旋向下。在左边的低温图中，几乎全是红色，说明自旋高度有序。中间的图是在临界点附近，可以看到有序和无序区域开始共存，形成了复杂的图案。而在右边的高温图中，红蓝相间，自旋完全无序。这三张图清晰地展示了系统从有序到无序的转变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还研究了有限尺寸效应。由于计算机模拟的系统大小总是有限的，这会影响相变的尖锐程度。这张图对比了三种不同尺寸的晶格。可以看到，尺寸越小，磁化强度曲线下降得越平缓，相变点也越不明显。随着尺寸增大，曲线越来越接近理论的突变行为。这告诉我们，在进行模拟时，必须考虑系统尺寸的影响，尽可能使用大尺寸以获得更精确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项目进行总结与展望。通过本次模拟，我们成功地重现了二维Ising模型的相变现象，确定的临界温度与理论值高度吻合，并观察到了磁滞回线和有限尺寸效应。这些结果验证了我们方法的正确性。展望未来，我们可以尝试更高效的算法，比如Wolff簇算法，也可以将模型扩展到三维或引入量子效应。此外，Ising模型的思想在材料科学、生物学甚至社会科学中都有广泛的应用前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8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6.svg"/><Relationship Id="rId4" Type="http://schemas.openxmlformats.org/officeDocument/2006/relationships/image" Target="../media/image10.svg"/><Relationship Id="rId9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905000" y="-1905000"/>
            <a:ext cx="6350000" cy="635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890000" y="4445000"/>
            <a:ext cx="5080000" cy="5080000"/>
          </a:xfrm>
          <a:prstGeom prst="ellipse">
            <a:avLst/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254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6324600"/>
            <a:ext cx="11176000" cy="25400"/>
          </a:xfrm>
          <a:prstGeom prst="roundRect">
            <a:avLst>
              <a:gd name="adj" fmla="val 0"/>
            </a:avLst>
          </a:prstGeom>
          <a:solidFill>
            <a:srgbClr val="FFF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2540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二维Ising模型相变与磁滞回线的蒙特卡洛模拟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3556008" y="405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08000" y="431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计算物理期末项目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5461000"/>
            <a:ext cx="3556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56007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143000" y="55626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[请填写姓名]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5461000"/>
            <a:ext cx="3556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56007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53000" y="55626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2026年6月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5461000"/>
            <a:ext cx="3556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500" y="56007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000" y="55626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课程：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计算物理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项目介绍与物理背景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905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159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Ising模型核心机制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750">
            <a:off x="952513" y="2787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048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模型将磁性固体简化为格点自旋系统，每个格点自旋仅取 +1（向上）或 -1（向下），是描述铁磁体相变的经典统计物理模型。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699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79500" y="4826000"/>
            <a:ext cx="292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关键矛盾：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自旋间的铁磁相互作用（趋向有序）与热涨落（趋向无序）的竞争，决定了系统的宏观磁性状态。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1905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72000" y="1905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762500" y="2159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系统总能量：哈密顿量 H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750">
            <a:off x="4762513" y="2787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762500" y="3048000"/>
            <a:ext cx="3175000" cy="1016000"/>
          </a:xfrm>
          <a:prstGeom prst="roundRect">
            <a:avLst>
              <a:gd name="adj" fmla="val 0"/>
            </a:avLst>
          </a:prstGeom>
          <a:solidFill>
            <a:srgbClr val="00336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889500" y="3238500"/>
            <a:ext cx="292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H = -J∑sᵢsⱼ - μB∑sᵢ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62500" y="43180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物理意义解析：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第一项为交换作用能（J&gt;0为铁磁相互作用），刻画自旋协作倾向；第二项为外磁场作用能，描述外场对自旋取向的偏置作用。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1905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382000" y="1905000"/>
            <a:ext cx="3556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572500" y="2159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本项目核心研究目标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750">
            <a:off x="8572513" y="2787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572500" y="3048000"/>
            <a:ext cx="3175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99500" y="3175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144000" y="31115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模拟相变过程：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复现从低温有序到高温无序的宏观状态转变。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572500" y="3937000"/>
            <a:ext cx="3175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9500" y="4064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144000" y="40005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确定临界温度Tc：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通过磁化强度、比热等热力学量定位相变点。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572500" y="4889500"/>
            <a:ext cx="3175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9500" y="50165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9144000" y="4953000"/>
            <a:ext cx="254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探究临界行为：</a:t>
            </a: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分析临界点标度律、有限尺寸效应及磁滞回线特性。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02 数值方法 - Metropolis算法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核心思想：MCMC方法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794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直接穷举所有自旋构型在计算上不可行。算法通过构建马尔可夫链，使其平衡分布为玻尔兹曼分布，从而高效实现对高概率状态的重要性采样，避开对低概率状态的无效计算。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09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80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核心准则：状态转移判定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635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2794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对随机尝试的自旋翻转，计算能量变化ΔE：若ΔE&lt;0，能量降低，直接接受翻转；若ΔE≥0，能量升高，则以概率A=exp(-βΔE)接受（β=1/(kBT)），以此保证采样满足统计物理的平衡分布。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1778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128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500" y="209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方法优势：高效与普适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318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18500" y="2794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该算法无需预先知晓所有状态，仅通过局部的随机试探即可遍历相空间。它不仅适用于伊辛模型，还可推广到晶格气体、连续自旋系统等复杂模型，是统计物理数值模拟的基石。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826000"/>
            <a:ext cx="10795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4826000"/>
            <a:ext cx="2692400" cy="1524000"/>
          </a:xfrm>
          <a:prstGeom prst="roundRect">
            <a:avLst>
              <a:gd name="adj" fmla="val 0"/>
            </a:avLst>
          </a:prstGeom>
          <a:solidFill>
            <a:srgbClr val="003366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0165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333500" y="49784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01 系统初始化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8582">
            <a:off x="952517" y="5454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52500" y="55880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构建N×N自旋网格，随机分配初始自旋状态（+1或-1），设定系统温度参数。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3454400" y="4826000"/>
            <a:ext cx="2692400" cy="1524000"/>
          </a:xfrm>
          <a:prstGeom prst="roundRect">
            <a:avLst>
              <a:gd name="adj" fmla="val 0"/>
            </a:avLst>
          </a:prstGeom>
          <a:solidFill>
            <a:srgbClr val="003366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4900" y="5016500"/>
            <a:ext cx="279400" cy="279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4025900" y="49784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02 迭代尝试翻转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8582">
            <a:off x="3644917" y="5454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3644900" y="55880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随机选取格点，尝试翻转自旋并计算ΔE；依据Metropolis准则判断是否接受该翻转，更新系统状态。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146800" y="4826000"/>
            <a:ext cx="2692400" cy="1524000"/>
          </a:xfrm>
          <a:prstGeom prst="roundRect">
            <a:avLst>
              <a:gd name="adj" fmla="val 0"/>
            </a:avLst>
          </a:prstGeom>
          <a:solidFill>
            <a:srgbClr val="003366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7300" y="5016500"/>
            <a:ext cx="279400" cy="279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6718300" y="49784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03 物理量测量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8582">
            <a:off x="6337317" y="54546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337300" y="55880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待系统热化至平衡后，周期性测量总磁化强度、总能量等关键物理量，积累统计数据。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839200" y="4826000"/>
            <a:ext cx="2717800" cy="1524000"/>
          </a:xfrm>
          <a:prstGeom prst="roundRect">
            <a:avLst>
              <a:gd name="adj" fmla="val 0"/>
            </a:avLst>
          </a:prstGeom>
          <a:solidFill>
            <a:srgbClr val="003366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9700" y="5016500"/>
            <a:ext cx="279400" cy="2794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9410700" y="49784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04 变温重复模拟</a:t>
            </a:r>
            <a:endParaRPr lang="en-US" sz="1100"/>
          </a:p>
        </p:txBody>
      </p:sp>
      <p:cxnSp>
        <p:nvCxnSpPr>
          <p:cNvPr id="41" name="Connector 41"/>
          <p:cNvCxnSpPr/>
          <p:nvPr/>
        </p:nvCxnSpPr>
        <p:spPr>
          <a:xfrm rot="-18683">
            <a:off x="9029717" y="5454650"/>
            <a:ext cx="2336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AutoShape 42"/>
          <p:cNvSpPr/>
          <p:nvPr/>
        </p:nvSpPr>
        <p:spPr>
          <a:xfrm>
            <a:off x="9029700" y="5588000"/>
            <a:ext cx="234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逐步改变温度T，重复上述过程，分析物理量随温度的演化规律，确定相变临界行为。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03 项目代码结构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本项目采用 Python 语言实现，遵循模块化设计原则，将核心逻辑与功能实现解耦，形成清晰的代码层次结构，极大提升了代码的可读性、可维护性与可扩展性。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227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26035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730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ising_model.py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3302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功能定义：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封装 Ising 模型的核心数据结构与基础操作，构建系统的底层物理模型。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核心实现：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完成自旋网格初始化、周期性边界条件处理、系统总能量与局域能量的高效计算。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26035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2000" y="2730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monte_carlo.py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14323">
            <a:off x="45720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4572000" y="3302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算法核心：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实现蒙特卡洛模拟的核心逻辑，即 Metropolis 算法的完整迭代流程。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关键逻辑：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执行自旋随机翻转尝试，基于玻尔兹曼分布判定接受/拒绝准则，推进系统的热力学演化。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001000" y="26035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91500" y="2730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hysteresis.py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81915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191500" y="33020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物理模拟：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针对外磁场的周期性变化，驱动系统完成完整的磁化-退磁-反磁化动力学过程。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实时记录不同磁场强度下的系统磁化强度，为磁滞回线的绘制提供完整数据支撑。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46990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952500" y="4826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visualization.py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8814">
            <a:off x="952508" y="5264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52500" y="53594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结果呈现：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matplotlib 封装可视化函数库，实现模拟结果的图表化展示。支持相变温度曲线、磁滞回线以及不同温度下的自旋构型分布的绘制，直观呈现系统的物理特性与演化规律。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6990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67500" y="4826000"/>
            <a:ext cx="4953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main.py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8814">
            <a:off x="6667508" y="52641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667500" y="53594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流程中枢：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作为程序的主入口，负责全局参数配置、模拟流程调度与模块协作。统一管理模拟温度、磁场强度、网格规模等核心参数，按逻辑顺序调用各功能模块，完成从模型初始化到结果可视化的全流程闭环。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04 功能演示 - 相变曲线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431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4572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457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52500" y="46355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磁化强度 |m|：有序-无序相变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低温下趋近于1，系统处于有序铁磁相；在临界温度Tc附近迅速下降至0，标志着系统进入无序的顺磁相，体现了相变的序参量特征。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381500" y="4572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381500" y="457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72000" y="46355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比热 C：临界点的热力学响应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在临界点附近呈现显著的尖峰结构，反映系统在相变过程中吸收或释放热量的剧烈变化，是二级相变在热力学量上的典型宏观表现。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45720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001000" y="457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191500" y="4635500"/>
            <a:ext cx="311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磁化率 χ：对外场的敏感响应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在临界温度附近出现明显的发散趋势，体现系统对外加磁场的响应敏感性急剧增强，是关联长度在临界点发散的直接物理后果。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61595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00336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6248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6197600"/>
            <a:ext cx="990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图中红色虚线标注了二维Ising模型的理论临界温度</a:t>
            </a:r>
            <a:r>
              <a:rPr lang="en-US" sz="13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Tc ≈ 2.269</a:t>
            </a:r>
            <a:r>
              <a:rPr lang="en-US" sz="1300" b="0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，模拟结果与理论值高度吻合，验证了算法的准确性。</a:t>
            </a:r>
            <a:endParaRPr lang="en-US" sz="110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83244DDF-6599-4691-D5A7-1C426958F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384300"/>
            <a:ext cx="10668000" cy="2606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05 功能演示 - 磁滞回线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53340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图示为温度 T=1.5 时，系统磁化强度 m 随外磁场 h 变化的关系曲线。磁化强度的变化滞后于外磁场，形成了典型的闭合磁滞回线，直观展现了铁磁材料的核心磁特性。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0177">
            <a:off x="3873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350000" y="17780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0" y="1778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604000" y="1879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磁滞现象：不可逆的磁化响应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磁化强度的变化滞后于外磁场的变化。当外磁场从正最大值减小到零时，系统不会立即消磁，而是保留一定的磁性，这是铁磁材料的重要特征。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31750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0" y="317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336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04000" y="3276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剩余磁化 (m_rem)：零场下的磁记忆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当外磁场 h=0 时，系统的磁化强度不为零，该值即为剩余磁化强度。它代表了材料在撤去外场后保留磁性的能力，是永磁材料的关键指标。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350000" y="4572000"/>
            <a:ext cx="5080000" cy="12065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350000" y="4572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3366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4673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矫顽场 (h_c)：消磁所需的反向磁场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为使磁化强度降为零，需施加反向磁场，该磁场强度即为矫顽场。它反映了材料抵抗退磁的能力，温度升高时，矫顽场会逐渐减小直至消失。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90F4B57-CDB9-81C8-BE6A-16CCD7D59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97" y="1463753"/>
            <a:ext cx="4876797" cy="36256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06 功能演示 - 自旋构型可视化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6730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通过可视化自旋构型，我们可以直观地观察系统在不同温度下的微观状态演变，从长程有序的铁磁态逐渐过渡到完全无序的顺磁态，清晰呈现相变过程中的结构变化。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4946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51435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51435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14400" y="52324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T=1.0 (有序相)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温度远低于临界温度Tc，系统中绝大多数自旋取向一致，仅存少量杂质自旋，呈现出典型的长程有序铁磁态。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381500" y="51435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81500" y="51435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533900" y="52324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T=2.2 (临界点)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温度接近Tc，有序与无序区域交织形成复杂结构，长程有序被破坏，但仍保留一定的短程关联，是相变发生的关键区间。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001000" y="51435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001000" y="5143500"/>
            <a:ext cx="50800" cy="1397000"/>
          </a:xfrm>
          <a:prstGeom prst="roundRect">
            <a:avLst>
              <a:gd name="adj" fmla="val 0"/>
            </a:avLst>
          </a:prstGeom>
          <a:solidFill>
            <a:srgbClr val="003366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153400" y="5232400"/>
            <a:ext cx="3175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T=3.0 (无序相)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温度远高于Tc，热涨落主导系统行为，自旋随机取向、红蓝混杂，整体呈现无序顺磁态，宏观磁化强度趋近于零。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B4807CA-86ED-20DD-80A2-E938A9348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" y="2133599"/>
            <a:ext cx="10668000" cy="28194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07 功能演示 - 有限尺寸效应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5461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图：不同晶格尺寸（16×16, 24×24, 32×32）下磁化强度 |m| 随温度 T 的变化曲线，红色虚线代表理论临界温度 Tc。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177">
            <a:off x="4127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731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985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01. 显著的尺寸依赖性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985000" y="2413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计算机模拟中系统尺寸的有限性会直接模糊相变的尖锐程度。系统尺寸越小，磁化强度的下降过程越平缓，相变发生的温度区间也越宽，临界行为的特征越不明显。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046">
            <a:off x="6731008" y="3549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731000" y="381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00336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985000" y="3810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02. 趋向热力学极限的收敛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985000" y="4254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随着晶格尺寸 N 增大，磁化强度曲线的拐点逐渐逼近理论临界温度 Tc，相变行为愈发陡峭，模拟结果也更趋近于无限大系统的真实热力学行为。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6731008" y="5454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731000" y="5651500"/>
            <a:ext cx="4826000" cy="825500"/>
          </a:xfrm>
          <a:prstGeom prst="roundRect">
            <a:avLst>
              <a:gd name="adj" fmla="val 0"/>
            </a:avLst>
          </a:prstGeom>
          <a:solidFill>
            <a:srgbClr val="00336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0" y="5816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02500" y="5715000"/>
            <a:ext cx="4127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核心启示：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为获取精确的临界指数与相变点，模拟必须采用足够大的系统尺寸以克服有限尺寸效应的干扰。</a:t>
            </a:r>
            <a:endParaRPr lang="en-US" sz="110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57F932D-1F29-B572-1A8E-66342445F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879" y="1651000"/>
            <a:ext cx="5352121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08 结论与展望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/>
          <p:cNvSpPr/>
          <p:nvPr/>
        </p:nvSpPr>
        <p:spPr>
          <a:xfrm>
            <a:off x="762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01 / 主要研究结论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384">
            <a:off x="762008" y="2279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2667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2819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27940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成功模拟相变过程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0103">
            <a:off x="914419" y="32956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14400" y="3429000"/>
            <a:ext cx="21717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通过蒙特卡洛模拟，清晰观测到系统从低温有序相到高温无序相的完整转变过程，验证了相变的宏观特征。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492500" y="26670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4900" y="28194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064000" y="27940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临界温度高度吻合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20103">
            <a:off x="3644919" y="32956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644900" y="3429000"/>
            <a:ext cx="21717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模拟得到的临界温度与昂萨格理论精确解 Tc ≈ 2.269 高度一致，证实了模拟算法的准确性与可靠性。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6355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47879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47625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观测低温磁滞回线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20103">
            <a:off x="914419" y="52641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914400" y="5397500"/>
            <a:ext cx="21717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成功复现了低温条件下的磁滞回线特征，准确识别出剩磁强度与矫顽场参数，与理论预期相符。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492500" y="4635500"/>
            <a:ext cx="2476500" cy="17145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44900" y="47879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064000" y="47625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验证有限尺寸效应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20103">
            <a:off x="3644919" y="5264150"/>
            <a:ext cx="2171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3644900" y="5397500"/>
            <a:ext cx="21717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系统研究了不同晶格尺寸对结果的影响，验证了系统尺寸越大，模拟结果越趋近于热力学极限的规律。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89889">
            <a:off x="41275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405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02 / 未来研究方向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8929">
            <a:off x="6540508" y="22796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29" name="AutoShape 29"/>
          <p:cNvSpPr/>
          <p:nvPr/>
        </p:nvSpPr>
        <p:spPr>
          <a:xfrm>
            <a:off x="6540500" y="2667000"/>
            <a:ext cx="4889500" cy="1143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540500" y="26670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94500" y="28575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7302500" y="27940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算法效率优化：引入簇算法加速模拟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9822">
            <a:off x="6794509" y="3295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6794500" y="34036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尝试Wolff簇算法等高效蒙特卡洛方法，减少临界慢化效应，提升临界点附近的模拟收敛速度与精度。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540500" y="4000500"/>
            <a:ext cx="4889500" cy="1143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6540500" y="40005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3366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4191000"/>
            <a:ext cx="355600" cy="3556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7302500" y="41275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模型维度拓展：探索复杂物理体系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-9822">
            <a:off x="6794509" y="4629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AutoShape 40"/>
          <p:cNvSpPr/>
          <p:nvPr/>
        </p:nvSpPr>
        <p:spPr>
          <a:xfrm>
            <a:off x="6794500" y="4737100"/>
            <a:ext cx="450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将研究扩展至三维Ising模型、量子Ising模型，或引入无序效应探索自旋玻璃模型的复杂相变行为。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540500" y="5270500"/>
            <a:ext cx="4889500" cy="1143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12700" cap="flat" cmpd="sng">
            <a:solidFill>
              <a:srgbClr val="00336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6540500" y="5270500"/>
            <a:ext cx="76200" cy="1143000"/>
          </a:xfrm>
          <a:prstGeom prst="roundRect">
            <a:avLst>
              <a:gd name="adj" fmla="val 0"/>
            </a:avLst>
          </a:prstGeom>
          <a:solidFill>
            <a:srgbClr val="003366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500" y="5461000"/>
            <a:ext cx="355600" cy="355600"/>
          </a:xfrm>
          <a:prstGeom prst="rect">
            <a:avLst/>
          </a:prstGeom>
        </p:spPr>
      </p:pic>
      <p:sp>
        <p:nvSpPr>
          <p:cNvPr id="44" name="AutoShape 44"/>
          <p:cNvSpPr/>
          <p:nvPr/>
        </p:nvSpPr>
        <p:spPr>
          <a:xfrm>
            <a:off x="7302500" y="5397500"/>
            <a:ext cx="4000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多领域迁移：Ising框架的普适性应用</a:t>
            </a:r>
            <a:endParaRPr lang="en-US" sz="1100"/>
          </a:p>
        </p:txBody>
      </p:sp>
      <p:cxnSp>
        <p:nvCxnSpPr>
          <p:cNvPr id="45" name="Connector 45"/>
          <p:cNvCxnSpPr/>
          <p:nvPr/>
        </p:nvCxnSpPr>
        <p:spPr>
          <a:xfrm rot="-9822">
            <a:off x="6794509" y="5835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AutoShape 46"/>
          <p:cNvSpPr/>
          <p:nvPr/>
        </p:nvSpPr>
        <p:spPr>
          <a:xfrm>
            <a:off x="6794500" y="5905500"/>
            <a:ext cx="4508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将模型框架迁移至蛋白质折叠预测、社会舆论传播动力学等跨学科场景，挖掘普适的复杂系统规律。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962</Words>
  <Application>Microsoft Office PowerPoint</Application>
  <PresentationFormat>宽屏</PresentationFormat>
  <Paragraphs>121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Noto Sans SC</vt:lpstr>
      <vt:lpstr>Arial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卓涵 朱</cp:lastModifiedBy>
  <cp:revision>3</cp:revision>
  <dcterms:modified xsi:type="dcterms:W3CDTF">2026-06-30T16:05:25Z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{"Label":"1","ContentProducer":"001191110102MACQD9K64010000","ProduceID":"7657202982580964340","ReservedCode1":"","ContentPropagator":"","PropagateID":"","ReservedCode2":""}</vt:lpwstr>
  </property>
</Properties>
</file>